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Kurz durch die Agenda führen (max. 1 Minute). Versprechen: Am Ende wissen Sie, WO KI in Ihrem Betrieb hilft und SEHEN, wie schnell Software heute entsteht. Ziel ist nicht, dass Sie selbst Entwickler werden — sondern dass Sie die Chancen erkennen.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Persönlich werden. Eine kurze Geschichte, warum Sie das machen. Betonen: Sie sind Praktiker. Glaubwürdigkeit entsteht durch die Produkte auf der nächsten Folie.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ist Ihr Vertrauens-Anker. Kurz pro Produkt 1 Satz. Botschaft: „All das wurde mit modernen KI-Werkzeugen gebaut — von einer kleinen Mannschaft, schnell.“ Damit ist die Brücke zum Rest des Workshops geschlagen.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Klarstellen: Digitalisierung ≠ neue Software kaufen. Es ist eine Frage, WIE gearbeitet wird. Kleine Unternehmen sind agil — das ist ihr Trumpf gegenüber großen Wettbewerbern.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Zahlen sind branchenübliche Richtwerte (u. a. McKinsey/„The economic potential of generative AI“, Studien zu Entwickler-Produktivität mit KI-Assistenten). VOR DEM VORTRAG kurz aktualisieren und als „grobe Größenordnung“ präsentieren — nicht als exakte Garantie. Die eigentliche Botschaft steht unten: richtige Stelle schlägt Technik-Hype.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Dringlichkeit erzeugen, aber ohne Angstmache. Framing: Frühe, kleine Schritte schlagen großes Abwarten. Überleitung zu Abschnitt 2: „Bevor wir Werkzeuge einsetzen, müssen wir wissen WO.“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Kernbotschaft des ganzen Workshops. Beispiel erzählen: Ein Betrieb wollte „eine App“, brauchte aber eigentlich nur eine saubere Vorlage + Automatisierung. Das ist Ihr Mehrwert als Berater.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sind Ihre Diagnose-Fragen. Publikum aktivieren: „Denken Sie an EINEN Prozess in Ihrem Betrieb, der Sie nervt.“ Diese Folie ist praktisch und einprägsam — evtl. als Handout mitgeben.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Einfache, wiederholbare Methode. Betonen: Schritt 3 (Werkzeug) ist der KLEINSTE Teil. Die Arbeit steckt in 1, 2 und 4. Überleitung zu Abschnitt 3: Schritt 4 — die Menschen — ist der schwerste.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wichtigste Folie für Ihr Verkaufsargument. Tools kann jeder googeln — den Wandel beim TEAM zu schaffen, ist die eigentliche Leistung. Genau dafür braucht man jemanden wie Sie.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Praktischer Werkzeugkasten für Akzeptanz. Pointe: „Die beste Software ist wertlos, wenn sie keiner benutzt.“ Überleitung: „Jetzt der spannende Teil — wie Software heute überhaupt entsteht.“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Erwartung setzen für die Demo. WICHTIG: Ehrlich bleiben — KI ersetzt keinen erfahrenen Kopf bei komplexen / kritischen Systemen. Aber für 80 % der Alltagsfälle ist sie ein Gamechanger. Das verkauft Ihre Rolle: Sie sind der erfahrene Kopf.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Kurz halten — nicht in Technik abdriften. Das Publikum muss den Ablauf verstehen, nicht die Werkzeuge im Detail. Dann auf die nächste Folie: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AUF SCREEN-SHARE / EDITOR WECHSELN. Demo-Tipps: 1) Etwas wählen, das die Zielgruppe versteht (z. B. einfache Kundenanfrage-Seite oder Angebots-Generator). 2) Laut denken. 3) Bewusst auch eine kleine Korrektur machen — zeigt, dass man im Dialog steuert. 4) BACKUP bereithalten (Screenshots/Aufnahme), falls Live nicht klappt oder WLAN schwächelt. Zeitrahmen: 5–8 Minuten.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Den „Wow“-Moment in Wert ummünzen. Roter Faden schließen: Technik ist schnell und billig geworden — der Engpass ist VERSTEHEN (Prozesse) und MENSCHEN. Beides liefern Sie.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Ihr Angebot, klar strukturiert. Botschaft an die Unternehmer: „Sie müssen das nicht selbst lernen. Sie brauchen jemanden, der versteht UND umsetzt.“ Das ist genau die Buchung, auf die der Workshop hinarbeitet.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Klarer, niedrigschwelliger Call to Action. Tipp: Hier einen echten QR-Code zu Ihrem Kalender (z. B. Calendly) einfügen und die Platzhalter mit echten Kontaktdaten ersetzen. Letzter Satz im Vortrag: Einladung zum kostenlosen Erstgespräch — nicht verkaufen, sondern helfen anbieten.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32720" y="0"/>
            <a:ext cx="1856231" cy="32004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D9488"/>
                </a:solidFill>
                <a:latin typeface="Calibri"/>
              </a:rPr>
              <a:t>WORKSHOP · KI FÜR KLEINE UNTERNEHMEN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106070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400" b="1">
                <a:solidFill>
                  <a:srgbClr val="0B1B2B"/>
                </a:solidFill>
                <a:latin typeface="Calibri"/>
              </a:rPr>
              <a:t>KI im Unternehmen: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400" b="1">
                <a:solidFill>
                  <a:srgbClr val="0B1B2B"/>
                </a:solidFill>
                <a:latin typeface="Calibri"/>
              </a:rPr>
              <a:t>von der Idee zur Umsetzung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11480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51647B"/>
                </a:solidFill>
                <a:latin typeface="Calibri"/>
              </a:rPr>
              <a:t>Wie KI und KI-gestütztes Coding Ihrem Betrieb Zeit, Geld und Nerven sparen.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5212080"/>
            <a:ext cx="457200" cy="5486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53949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0B1B2B"/>
                </a:solidFill>
                <a:latin typeface="Calibri"/>
              </a:rPr>
              <a:t>[Ihr Name]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1647B"/>
                </a:solidFill>
                <a:latin typeface="Calibri"/>
              </a:rPr>
              <a:t>[Ihr Unternehmen] · KI- &amp; Digitalisierungsberatung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1647B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Calibri"/>
              </a:rPr>
              <a:t>ÜBERBLICK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B1B2B"/>
                </a:solidFill>
                <a:latin typeface="Calibri"/>
              </a:rPr>
              <a:t>Unser Weg durch den Workshop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91640"/>
            <a:ext cx="822960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042416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900" b="1">
                <a:solidFill>
                  <a:srgbClr val="0D9488"/>
                </a:solidFill>
                <a:latin typeface="Calibri"/>
              </a:rPr>
              <a:t>▸  </a:t>
            </a:r>
            <a:r>
              <a:rPr sz="1900" b="1">
                <a:solidFill>
                  <a:srgbClr val="0B1B2B"/>
                </a:solidFill>
                <a:latin typeface="Calibri"/>
              </a:rPr>
              <a:t>1 · Wer ich bin</a:t>
            </a:r>
            <a:r>
              <a:rPr sz="1900" b="0">
                <a:solidFill>
                  <a:srgbClr val="51647B"/>
                </a:solidFill>
                <a:latin typeface="Calibri"/>
              </a:rPr>
              <a:t> — Hintergrund und was ich bereits gebaut habe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900" b="1">
                <a:solidFill>
                  <a:srgbClr val="0D9488"/>
                </a:solidFill>
                <a:latin typeface="Calibri"/>
              </a:rPr>
              <a:t>▸  </a:t>
            </a:r>
            <a:r>
              <a:rPr sz="1900" b="1">
                <a:solidFill>
                  <a:srgbClr val="0B1B2B"/>
                </a:solidFill>
                <a:latin typeface="Calibri"/>
              </a:rPr>
              <a:t>2 · Digitale Transformation</a:t>
            </a:r>
            <a:r>
              <a:rPr sz="1900" b="0">
                <a:solidFill>
                  <a:srgbClr val="51647B"/>
                </a:solidFill>
                <a:latin typeface="Calibri"/>
              </a:rPr>
              <a:t> — Was KI heute leistet — in Zahlen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900" b="1">
                <a:solidFill>
                  <a:srgbClr val="0D9488"/>
                </a:solidFill>
                <a:latin typeface="Calibri"/>
              </a:rPr>
              <a:t>▸  </a:t>
            </a:r>
            <a:r>
              <a:rPr sz="1900" b="1">
                <a:solidFill>
                  <a:srgbClr val="0B1B2B"/>
                </a:solidFill>
                <a:latin typeface="Calibri"/>
              </a:rPr>
              <a:t>3 · Prozessoptimierung</a:t>
            </a:r>
            <a:r>
              <a:rPr sz="1900" b="0">
                <a:solidFill>
                  <a:srgbClr val="51647B"/>
                </a:solidFill>
                <a:latin typeface="Calibri"/>
              </a:rPr>
              <a:t> — Erst verstehen, dann automatisieren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900" b="1">
                <a:solidFill>
                  <a:srgbClr val="0D9488"/>
                </a:solidFill>
                <a:latin typeface="Calibri"/>
              </a:rPr>
              <a:t>▸  </a:t>
            </a:r>
            <a:r>
              <a:rPr sz="1900" b="1">
                <a:solidFill>
                  <a:srgbClr val="0B1B2B"/>
                </a:solidFill>
                <a:latin typeface="Calibri"/>
              </a:rPr>
              <a:t>4 · Der Faktor Mensch</a:t>
            </a:r>
            <a:r>
              <a:rPr sz="1900" b="0">
                <a:solidFill>
                  <a:srgbClr val="51647B"/>
                </a:solidFill>
                <a:latin typeface="Calibri"/>
              </a:rPr>
              <a:t> — Warum Technik der einfache Teil ist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900" b="1">
                <a:solidFill>
                  <a:srgbClr val="0D9488"/>
                </a:solidFill>
                <a:latin typeface="Calibri"/>
              </a:rPr>
              <a:t>▸  </a:t>
            </a:r>
            <a:r>
              <a:rPr sz="1900" b="1">
                <a:solidFill>
                  <a:srgbClr val="0B1B2B"/>
                </a:solidFill>
                <a:latin typeface="Calibri"/>
              </a:rPr>
              <a:t>5 · KI-gestütztes Coding</a:t>
            </a:r>
            <a:r>
              <a:rPr sz="1900" b="0">
                <a:solidFill>
                  <a:srgbClr val="51647B"/>
                </a:solidFill>
                <a:latin typeface="Calibri"/>
              </a:rPr>
              <a:t> — Live-Demo: Software in Minuten statt Monaten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900" b="1">
                <a:solidFill>
                  <a:srgbClr val="0D9488"/>
                </a:solidFill>
                <a:latin typeface="Calibri"/>
              </a:rPr>
              <a:t>▸  </a:t>
            </a:r>
            <a:r>
              <a:rPr sz="1900" b="1">
                <a:solidFill>
                  <a:srgbClr val="0B1B2B"/>
                </a:solidFill>
                <a:latin typeface="Calibri"/>
              </a:rPr>
              <a:t>6 · Was als Nächstes</a:t>
            </a:r>
            <a:r>
              <a:rPr sz="1900" b="0">
                <a:solidFill>
                  <a:srgbClr val="51647B"/>
                </a:solidFill>
                <a:latin typeface="Calibri"/>
              </a:rPr>
              <a:t> — Wie Sie das in Ihrem Betrieb nutzen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1647B"/>
                </a:solidFill>
                <a:latin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Calibri"/>
              </a:rPr>
              <a:t>VORSTELLUNG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B1B2B"/>
                </a:solidFill>
                <a:latin typeface="Calibri"/>
              </a:rPr>
              <a:t>Wer vor Ihnen steht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91640"/>
            <a:ext cx="822960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1042416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1800"/>
              </a:spcAft>
            </a:pPr>
            <a:r>
              <a:rPr sz="2000" b="1">
                <a:solidFill>
                  <a:srgbClr val="0D9488"/>
                </a:solidFill>
                <a:latin typeface="Calibri"/>
              </a:rPr>
              <a:t>▸  </a:t>
            </a:r>
            <a:r>
              <a:rPr sz="2000" b="1">
                <a:solidFill>
                  <a:srgbClr val="0B1B2B"/>
                </a:solidFill>
                <a:latin typeface="Calibri"/>
              </a:rPr>
              <a:t>[Ihr Name]</a:t>
            </a:r>
            <a:r>
              <a:rPr sz="2000" b="0">
                <a:solidFill>
                  <a:srgbClr val="51647B"/>
                </a:solidFill>
                <a:latin typeface="Calibri"/>
              </a:rPr>
              <a:t> — Ich entwickle und berate an der Schnittstelle von KI, Software und Geschäftsprozessen.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sz="2000" b="1">
                <a:solidFill>
                  <a:srgbClr val="0D9488"/>
                </a:solidFill>
                <a:latin typeface="Calibri"/>
              </a:rPr>
              <a:t>▸  </a:t>
            </a:r>
            <a:r>
              <a:rPr sz="2000" b="1">
                <a:solidFill>
                  <a:srgbClr val="0B1B2B"/>
                </a:solidFill>
                <a:latin typeface="Calibri"/>
              </a:rPr>
              <a:t>Macher, nicht nur Berater</a:t>
            </a:r>
            <a:r>
              <a:rPr sz="2000" b="0">
                <a:solidFill>
                  <a:srgbClr val="51647B"/>
                </a:solidFill>
                <a:latin typeface="Calibri"/>
              </a:rPr>
              <a:t> — Ich baue selbst Produkte — ich rede nicht nur über Technologie, ich setze sie ein.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sz="2000" b="1">
                <a:solidFill>
                  <a:srgbClr val="0D9488"/>
                </a:solidFill>
                <a:latin typeface="Calibri"/>
              </a:rPr>
              <a:t>▸  </a:t>
            </a:r>
            <a:r>
              <a:rPr sz="2000" b="1">
                <a:solidFill>
                  <a:srgbClr val="0B1B2B"/>
                </a:solidFill>
                <a:latin typeface="Calibri"/>
              </a:rPr>
              <a:t>Fokus</a:t>
            </a:r>
            <a:r>
              <a:rPr sz="2000" b="0">
                <a:solidFill>
                  <a:srgbClr val="51647B"/>
                </a:solidFill>
                <a:latin typeface="Calibri"/>
              </a:rPr>
              <a:t> — Digitale Transformation: echte Probleme im Betrieb finden und mit dem richtigen Werkzeug lösen.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sz="2000" b="1">
                <a:solidFill>
                  <a:srgbClr val="0D9488"/>
                </a:solidFill>
                <a:latin typeface="Calibri"/>
              </a:rPr>
              <a:t>▸  </a:t>
            </a:r>
            <a:r>
              <a:rPr sz="2000" b="1">
                <a:solidFill>
                  <a:srgbClr val="0B1B2B"/>
                </a:solidFill>
                <a:latin typeface="Calibri"/>
              </a:rPr>
              <a:t>Heute</a:t>
            </a:r>
            <a:r>
              <a:rPr sz="2000" b="0">
                <a:solidFill>
                  <a:srgbClr val="51647B"/>
                </a:solidFill>
                <a:latin typeface="Calibri"/>
              </a:rPr>
              <a:t> — Ich zeige Ihnen, was möglich ist — und wo der Hebel für Ihr Unternehmen liegt.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1647B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Calibri"/>
              </a:rPr>
              <a:t>REFERENZEN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B1B2B"/>
                </a:solidFill>
                <a:latin typeface="Calibri"/>
              </a:rPr>
              <a:t>Was ich bereits gebaut habe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91640"/>
            <a:ext cx="822960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965960"/>
            <a:ext cx="3456432" cy="141732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965960"/>
            <a:ext cx="82296" cy="14173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94560"/>
            <a:ext cx="2907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B1B2B"/>
                </a:solidFill>
                <a:latin typeface="Calibri"/>
              </a:rPr>
              <a:t>Video-Meeting-Plattform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43200"/>
            <a:ext cx="2907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1647B"/>
                </a:solidFill>
                <a:latin typeface="Calibri"/>
              </a:rPr>
              <a:t>Eine Art „Google Meet“ inkl. Meeting-Bot, der Gespräche begleitet.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90872" y="1965960"/>
            <a:ext cx="3456432" cy="141732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90872" y="1965960"/>
            <a:ext cx="82296" cy="141732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10912" y="2194560"/>
            <a:ext cx="2907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B1B2B"/>
                </a:solidFill>
                <a:latin typeface="Calibri"/>
              </a:rPr>
              <a:t>Startup-Ökosystem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0912" y="2743200"/>
            <a:ext cx="2907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1647B"/>
                </a:solidFill>
                <a:latin typeface="Calibri"/>
              </a:rPr>
              <a:t>Plattform, die Gründer, Wissen und Ressourcen vernetzt.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13064" y="1965960"/>
            <a:ext cx="3456432" cy="141732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13064" y="1965960"/>
            <a:ext cx="82296" cy="14173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33104" y="2194560"/>
            <a:ext cx="2907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B1B2B"/>
                </a:solidFill>
                <a:latin typeface="Calibri"/>
              </a:rPr>
              <a:t>„Learn how to talk“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2743200"/>
            <a:ext cx="2907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1647B"/>
                </a:solidFill>
                <a:latin typeface="Calibri"/>
              </a:rPr>
              <a:t>Trainingsapp für Kommunikation und sicheres Auftreten.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675888"/>
            <a:ext cx="3456432" cy="141732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3675888"/>
            <a:ext cx="82296" cy="141732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904488"/>
            <a:ext cx="2907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B1B2B"/>
                </a:solidFill>
                <a:latin typeface="Calibri"/>
              </a:rPr>
              <a:t>Job-Interview-Training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453128"/>
            <a:ext cx="2907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1647B"/>
                </a:solidFill>
                <a:latin typeface="Calibri"/>
              </a:rPr>
              <a:t>KI-gestützte Vorbereitung auf Bewerbungsgespräche.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90872" y="3675888"/>
            <a:ext cx="3456432" cy="141732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90872" y="3675888"/>
            <a:ext cx="82296" cy="14173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10912" y="3904488"/>
            <a:ext cx="2907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B1B2B"/>
                </a:solidFill>
                <a:latin typeface="Calibri"/>
              </a:rPr>
              <a:t>Eigenes Game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0912" y="4453128"/>
            <a:ext cx="2907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1647B"/>
                </a:solidFill>
                <a:latin typeface="Calibri"/>
              </a:rPr>
              <a:t>Komplettes Spiel — selbst entwickelt.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13064" y="3675888"/>
            <a:ext cx="3456432" cy="141732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13064" y="3675888"/>
            <a:ext cx="82296" cy="141732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33104" y="3904488"/>
            <a:ext cx="2907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B1B2B"/>
                </a:solidFill>
                <a:latin typeface="Calibri"/>
              </a:rPr>
              <a:t>… und weitere Produkte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4453128"/>
            <a:ext cx="2907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1647B"/>
                </a:solidFill>
                <a:latin typeface="Calibri"/>
              </a:rPr>
              <a:t>Vom Prototyp bis zum laufenden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1647B"/>
                </a:solidFill>
                <a:latin typeface="Calibri"/>
              </a:rP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2743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0" b="1">
                <a:solidFill>
                  <a:srgbClr val="0D9488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2697480"/>
            <a:ext cx="8595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Digitale 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62072" y="3657600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AEBED0"/>
                </a:solidFill>
                <a:latin typeface="Calibri"/>
              </a:rPr>
              <a:t>Was KI heute wirklich leistet — und warum jetzt der richtige Zeitpunkt ist.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1647B"/>
                </a:solidFill>
                <a:latin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Calibri"/>
              </a:rPr>
              <a:t>GRUNDLAGEN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B1B2B"/>
                </a:solidFill>
                <a:latin typeface="Calibri"/>
              </a:rPr>
              <a:t>Digitale Transformation ist kein IT-Projekt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91640"/>
            <a:ext cx="822960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1042416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0D9488"/>
                </a:solidFill>
                <a:latin typeface="Calibri"/>
              </a:rPr>
              <a:t>▸  </a:t>
            </a:r>
            <a:r>
              <a:rPr sz="1900" b="1">
                <a:solidFill>
                  <a:srgbClr val="0B1B2B"/>
                </a:solidFill>
                <a:latin typeface="Calibri"/>
              </a:rPr>
              <a:t>Es geht um Wertschöpfung</a:t>
            </a:r>
            <a:r>
              <a:rPr sz="1900" b="0">
                <a:solidFill>
                  <a:srgbClr val="51647B"/>
                </a:solidFill>
                <a:latin typeface="Calibri"/>
              </a:rPr>
              <a:t> — nicht um Technik um der Technik willen. Werkzeuge sind Mittel zum Zweck.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0D9488"/>
                </a:solidFill>
                <a:latin typeface="Calibri"/>
              </a:rPr>
              <a:t>▸  </a:t>
            </a:r>
            <a:r>
              <a:rPr sz="1900" b="1">
                <a:solidFill>
                  <a:srgbClr val="0B1B2B"/>
                </a:solidFill>
                <a:latin typeface="Calibri"/>
              </a:rPr>
              <a:t>Repetitive Arbeit</a:t>
            </a:r>
            <a:r>
              <a:rPr sz="1900" b="0">
                <a:solidFill>
                  <a:srgbClr val="51647B"/>
                </a:solidFill>
                <a:latin typeface="Calibri"/>
              </a:rPr>
              <a:t> — verschwindet — Angebote, Berichte, Datenpflege, Standard-Kommunikation.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0D9488"/>
                </a:solidFill>
                <a:latin typeface="Calibri"/>
              </a:rPr>
              <a:t>▸  </a:t>
            </a:r>
            <a:r>
              <a:rPr sz="1900" b="1">
                <a:solidFill>
                  <a:srgbClr val="0B1B2B"/>
                </a:solidFill>
                <a:latin typeface="Calibri"/>
              </a:rPr>
              <a:t>Wissen wird zugänglich</a:t>
            </a:r>
            <a:r>
              <a:rPr sz="1900" b="0">
                <a:solidFill>
                  <a:srgbClr val="51647B"/>
                </a:solidFill>
                <a:latin typeface="Calibri"/>
              </a:rPr>
              <a:t> — Antworten in Sekunden statt Suchen in Ordnern.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0D9488"/>
                </a:solidFill>
                <a:latin typeface="Calibri"/>
              </a:rPr>
              <a:t>▸  </a:t>
            </a:r>
            <a:r>
              <a:rPr sz="1900" b="1">
                <a:solidFill>
                  <a:srgbClr val="0B1B2B"/>
                </a:solidFill>
                <a:latin typeface="Calibri"/>
              </a:rPr>
              <a:t>Kleine Betriebe im Vorteil</a:t>
            </a:r>
            <a:r>
              <a:rPr sz="1900" b="0">
                <a:solidFill>
                  <a:srgbClr val="51647B"/>
                </a:solidFill>
                <a:latin typeface="Calibri"/>
              </a:rPr>
              <a:t> — Sie sind schneller und können neue Werkzeuge sofort einsetzen — ohne Konzern-Bürokratie.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1647B"/>
                </a:solidFill>
                <a:latin typeface="Calibr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Calibri"/>
              </a:rPr>
              <a:t>DIE ZAHLEN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B1B2B"/>
                </a:solidFill>
                <a:latin typeface="Calibri"/>
              </a:rPr>
              <a:t>Warum sich das Hinschauen lohnt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91640"/>
            <a:ext cx="822960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057400"/>
            <a:ext cx="10469880" cy="21945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>
                <a:solidFill>
                  <a:srgbClr val="0D9488"/>
                </a:solidFill>
                <a:latin typeface="Calibri"/>
              </a:rPr>
              <a:t>bis 40 %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0B1B2B"/>
                </a:solidFill>
                <a:latin typeface="Calibri"/>
              </a:rPr>
              <a:t>weniger Zeit für Routineaufgaben durch KI-Assistenz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37744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>
                <a:solidFill>
                  <a:srgbClr val="C2410C"/>
                </a:solidFill>
                <a:latin typeface="Calibri"/>
              </a:rPr>
              <a:t>10×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342900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0B1B2B"/>
                </a:solidFill>
                <a:latin typeface="Calibri"/>
              </a:rPr>
              <a:t>schnellere Erstellung von Texten, Angeboten &amp;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37744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>
                <a:solidFill>
                  <a:srgbClr val="0D9488"/>
                </a:solidFill>
                <a:latin typeface="Calibri"/>
              </a:rPr>
              <a:t>24/7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342900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0B1B2B"/>
                </a:solidFill>
                <a:latin typeface="Calibri"/>
              </a:rPr>
              <a:t>verfügbar — KI macht keine Pause und wird nicht krank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17720"/>
            <a:ext cx="10469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1647B"/>
                </a:solidFill>
                <a:latin typeface="Calibri"/>
              </a:rPr>
              <a:t>Wichtig: Der Gewinn entsteht nicht durch „KI haben“, sondern durch KI an der richtigen Stelle. Ein gut gewählter Anwendungsfall amortisiert sich oft in wenigen Wochen.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1647B"/>
                </a:solidFill>
                <a:latin typeface="Calibri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Calibri"/>
              </a:rPr>
              <a:t>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B1B2B"/>
                </a:solidFill>
                <a:latin typeface="Calibri"/>
              </a:rPr>
              <a:t>Warum gerade jetzt der richtige Moment 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91640"/>
            <a:ext cx="822960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1042416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0D9488"/>
                </a:solidFill>
                <a:latin typeface="Calibri"/>
              </a:rPr>
              <a:t>▸  </a:t>
            </a:r>
            <a:r>
              <a:rPr sz="1900" b="1">
                <a:solidFill>
                  <a:srgbClr val="0B1B2B"/>
                </a:solidFill>
                <a:latin typeface="Calibri"/>
              </a:rPr>
              <a:t>Die Werkzeuge sind reif</a:t>
            </a:r>
            <a:r>
              <a:rPr sz="1900" b="0">
                <a:solidFill>
                  <a:srgbClr val="51647B"/>
                </a:solidFill>
                <a:latin typeface="Calibri"/>
              </a:rPr>
              <a:t> — Was vor zwei Jahren Forschung war, ist heute Alltag und bezahlbar.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0D9488"/>
                </a:solidFill>
                <a:latin typeface="Calibri"/>
              </a:rPr>
              <a:t>▸  </a:t>
            </a:r>
            <a:r>
              <a:rPr sz="1900" b="1">
                <a:solidFill>
                  <a:srgbClr val="0B1B2B"/>
                </a:solidFill>
                <a:latin typeface="Calibri"/>
              </a:rPr>
              <a:t>Die Einstiegshürde ist gefallen</a:t>
            </a:r>
            <a:r>
              <a:rPr sz="1900" b="0">
                <a:solidFill>
                  <a:srgbClr val="51647B"/>
                </a:solidFill>
                <a:latin typeface="Calibri"/>
              </a:rPr>
              <a:t> — Sie brauchen kein eigenes IT-Team mehr für vieles.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0D9488"/>
                </a:solidFill>
                <a:latin typeface="Calibri"/>
              </a:rPr>
              <a:t>▸  </a:t>
            </a:r>
            <a:r>
              <a:rPr sz="1900" b="1">
                <a:solidFill>
                  <a:srgbClr val="0B1B2B"/>
                </a:solidFill>
                <a:latin typeface="Calibri"/>
              </a:rPr>
              <a:t>Der Wettbewerb beginnt gerade</a:t>
            </a:r>
            <a:r>
              <a:rPr sz="1900" b="0">
                <a:solidFill>
                  <a:srgbClr val="51647B"/>
                </a:solidFill>
                <a:latin typeface="Calibri"/>
              </a:rPr>
              <a:t> — Wer jetzt lernt, hat einen echten Vorsprung — in 2 Jahren ist es Standard.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0D9488"/>
                </a:solidFill>
                <a:latin typeface="Calibri"/>
              </a:rPr>
              <a:t>▸  </a:t>
            </a:r>
            <a:r>
              <a:rPr sz="1900" b="1">
                <a:solidFill>
                  <a:srgbClr val="0B1B2B"/>
                </a:solidFill>
                <a:latin typeface="Calibri"/>
              </a:rPr>
              <a:t>Risiko des Abwartens</a:t>
            </a:r>
            <a:r>
              <a:rPr sz="1900" b="0">
                <a:solidFill>
                  <a:srgbClr val="51647B"/>
                </a:solidFill>
                <a:latin typeface="Calibri"/>
              </a:rPr>
              <a:t> — Nicht „zu früh investieren“, sondern „zu spät anfangen“ ist die eigentliche Gefahr.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1647B"/>
                </a:solidFill>
                <a:latin typeface="Calibri"/>
              </a:rPr>
              <a:t>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2743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0" b="1">
                <a:solidFill>
                  <a:srgbClr val="0D9488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2697480"/>
            <a:ext cx="8595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Prozesse verstehen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62072" y="3657600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AEBED0"/>
                </a:solidFill>
                <a:latin typeface="Calibri"/>
              </a:rPr>
              <a:t>Der wichtigste Schritt kommt vor der Technik: zu wissen, wo es im Betrieb wirklich klemmt.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1647B"/>
                </a:solidFill>
                <a:latin typeface="Calibr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Calibri"/>
              </a:rPr>
              <a:t>REIHENFOLGE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B1B2B"/>
                </a:solidFill>
                <a:latin typeface="Calibri"/>
              </a:rPr>
              <a:t>Erst verstehen — dann automatisieren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91640"/>
            <a:ext cx="822960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1042416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0D9488"/>
                </a:solidFill>
                <a:latin typeface="Calibri"/>
              </a:rPr>
              <a:t>▸  </a:t>
            </a:r>
            <a:r>
              <a:rPr sz="1900" b="1">
                <a:solidFill>
                  <a:srgbClr val="0B1B2B"/>
                </a:solidFill>
                <a:latin typeface="Calibri"/>
              </a:rPr>
              <a:t>Häufigster Fehler</a:t>
            </a:r>
            <a:r>
              <a:rPr sz="1900" b="0">
                <a:solidFill>
                  <a:srgbClr val="51647B"/>
                </a:solidFill>
                <a:latin typeface="Calibri"/>
              </a:rPr>
              <a:t> — Mit dem Werkzeug starten, bevor das Problem klar ist. Dann digitalisiert man Chaos.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0D9488"/>
                </a:solidFill>
                <a:latin typeface="Calibri"/>
              </a:rPr>
              <a:t>▸  </a:t>
            </a:r>
            <a:r>
              <a:rPr sz="1900" b="1">
                <a:solidFill>
                  <a:srgbClr val="0B1B2B"/>
                </a:solidFill>
                <a:latin typeface="Calibri"/>
              </a:rPr>
              <a:t>Richtige Reihenfolge</a:t>
            </a:r>
            <a:r>
              <a:rPr sz="1900" b="0">
                <a:solidFill>
                  <a:srgbClr val="51647B"/>
                </a:solidFill>
                <a:latin typeface="Calibri"/>
              </a:rPr>
              <a:t> — Prozess verstehen → Engpass finden → richtige Lösung wählen → erst dann umsetzen.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0D9488"/>
                </a:solidFill>
                <a:latin typeface="Calibri"/>
              </a:rPr>
              <a:t>▸  </a:t>
            </a:r>
            <a:r>
              <a:rPr sz="1900" b="1">
                <a:solidFill>
                  <a:srgbClr val="0B1B2B"/>
                </a:solidFill>
                <a:latin typeface="Calibri"/>
              </a:rPr>
              <a:t>„Automatisieren Sie keinen schlechten Prozess“</a:t>
            </a:r>
            <a:r>
              <a:rPr sz="1900" b="0">
                <a:solidFill>
                  <a:srgbClr val="51647B"/>
                </a:solidFill>
                <a:latin typeface="Calibri"/>
              </a:rPr>
              <a:t> — sonst machen Sie den Fehler nur schneller.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0D9488"/>
                </a:solidFill>
                <a:latin typeface="Calibri"/>
              </a:rPr>
              <a:t>▸  </a:t>
            </a:r>
            <a:r>
              <a:rPr sz="1900" b="1">
                <a:solidFill>
                  <a:srgbClr val="0B1B2B"/>
                </a:solidFill>
                <a:latin typeface="Calibri"/>
              </a:rPr>
              <a:t>Genau hier komme ich ins Spiel</a:t>
            </a:r>
            <a:r>
              <a:rPr sz="1900" b="0">
                <a:solidFill>
                  <a:srgbClr val="51647B"/>
                </a:solidFill>
                <a:latin typeface="Calibri"/>
              </a:rPr>
              <a:t> — Den Betrieb verstehen, bevor irgendjemand eine Zeile Code schreibt.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1647B"/>
                </a:solidFill>
                <a:latin typeface="Calibr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Calibri"/>
              </a:rPr>
              <a:t>ANALYSE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B1B2B"/>
                </a:solidFill>
                <a:latin typeface="Calibri"/>
              </a:rPr>
              <a:t>Wo liegen Ihre Potenziale?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91640"/>
            <a:ext cx="822960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965960"/>
            <a:ext cx="5120640" cy="1078992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965960"/>
            <a:ext cx="82296" cy="10789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9456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B1B2B"/>
                </a:solidFill>
                <a:latin typeface="Calibri"/>
              </a:rPr>
              <a:t>Was wiederholt sich täglich?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43200"/>
            <a:ext cx="4572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1647B"/>
                </a:solidFill>
                <a:latin typeface="Calibri"/>
              </a:rPr>
              <a:t>Jede manuelle Routine ist ein Kandidat.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65960"/>
            <a:ext cx="5120640" cy="1078992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965960"/>
            <a:ext cx="82296" cy="107899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19456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B1B2B"/>
                </a:solidFill>
                <a:latin typeface="Calibri"/>
              </a:rPr>
              <a:t>Wo entstehen Wartezeiten?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743200"/>
            <a:ext cx="4572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1647B"/>
                </a:solidFill>
                <a:latin typeface="Calibri"/>
              </a:rPr>
              <a:t>Übergaben, Freigaben, Suchen nach Infos.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227832"/>
            <a:ext cx="5120640" cy="1078992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3227832"/>
            <a:ext cx="82296" cy="10789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456432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B1B2B"/>
                </a:solidFill>
                <a:latin typeface="Calibri"/>
              </a:rPr>
              <a:t>Wo passieren Fehler?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005072"/>
            <a:ext cx="4572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1647B"/>
                </a:solidFill>
                <a:latin typeface="Calibri"/>
              </a:rPr>
              <a:t>Doppelte Eingaben, Copy-Paste, Medienbrüche.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27832"/>
            <a:ext cx="5120640" cy="1078992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227832"/>
            <a:ext cx="82296" cy="107899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456432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B1B2B"/>
                </a:solidFill>
                <a:latin typeface="Calibri"/>
              </a:rPr>
              <a:t>Was raubt Ihnen Energie?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005072"/>
            <a:ext cx="4572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1647B"/>
                </a:solidFill>
                <a:latin typeface="Calibri"/>
              </a:rPr>
              <a:t>Aufgaben, die niemand gern macht.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489704"/>
            <a:ext cx="5120640" cy="1078992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" y="4489704"/>
            <a:ext cx="82296" cy="10789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718304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B1B2B"/>
                </a:solidFill>
                <a:latin typeface="Calibri"/>
              </a:rPr>
              <a:t>Wo sagen Kunden „zu langsam“?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266944"/>
            <a:ext cx="4572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1647B"/>
                </a:solidFill>
                <a:latin typeface="Calibri"/>
              </a:rPr>
              <a:t>Reaktionszeit ist oft der Engpass.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489704"/>
            <a:ext cx="5120640" cy="1078992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489704"/>
            <a:ext cx="82296" cy="107899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718304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B1B2B"/>
                </a:solidFill>
                <a:latin typeface="Calibri"/>
              </a:rPr>
              <a:t>Was hängt an einer Person?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266944"/>
            <a:ext cx="4572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1647B"/>
                </a:solidFill>
                <a:latin typeface="Calibri"/>
              </a:rPr>
              <a:t>Wissen im Kopf ist ein Risiko.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1647B"/>
                </a:solidFill>
                <a:latin typeface="Calibr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Calibri"/>
              </a:rPr>
              <a:t>VORGEHEN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B1B2B"/>
                </a:solidFill>
                <a:latin typeface="Calibri"/>
              </a:rPr>
              <a:t>Vom Problem zur Lösung — in 4 Schritten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91640"/>
            <a:ext cx="822960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103120"/>
            <a:ext cx="2542032" cy="27432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2542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800" b="1">
                <a:solidFill>
                  <a:srgbClr val="0D9488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246120"/>
            <a:ext cx="21762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B1B2B"/>
                </a:solidFill>
                <a:latin typeface="Calibri"/>
              </a:rPr>
              <a:t>Beobachten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03320"/>
            <a:ext cx="20848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1647B"/>
                </a:solidFill>
                <a:latin typeface="Calibri"/>
              </a:rPr>
              <a:t>Prozess Schritt für Schritt aufnehmen — so wie er wirklich läuft.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75304" y="2103120"/>
            <a:ext cx="2542032" cy="27432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75304" y="2331720"/>
            <a:ext cx="2542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800" b="1">
                <a:solidFill>
                  <a:srgbClr val="C2410C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58184" y="3246120"/>
            <a:ext cx="21762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B1B2B"/>
                </a:solidFill>
                <a:latin typeface="Calibri"/>
              </a:rPr>
              <a:t>Bewerten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3904" y="3703320"/>
            <a:ext cx="20848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1647B"/>
                </a:solidFill>
                <a:latin typeface="Calibri"/>
              </a:rPr>
              <a:t>Wo ist der größte Hebel? Aufwand vs. Wirkung.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2103120"/>
            <a:ext cx="2542032" cy="27432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2331720"/>
            <a:ext cx="2542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800" b="1">
                <a:solidFill>
                  <a:srgbClr val="0D9488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3246120"/>
            <a:ext cx="21762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B1B2B"/>
                </a:solidFill>
                <a:latin typeface="Calibri"/>
              </a:rPr>
              <a:t>Lösen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3703320"/>
            <a:ext cx="20848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1647B"/>
                </a:solidFill>
                <a:latin typeface="Calibri"/>
              </a:rPr>
              <a:t>Richtiges Werkzeug wählen — oft KI, manchmal nur eine Vorlage.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88552" y="2103120"/>
            <a:ext cx="2542032" cy="27432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2331720"/>
            <a:ext cx="2542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800" b="1">
                <a:solidFill>
                  <a:srgbClr val="C2410C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3246120"/>
            <a:ext cx="21762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B1B2B"/>
                </a:solidFill>
                <a:latin typeface="Calibri"/>
              </a:rPr>
              <a:t>Einführen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3703320"/>
            <a:ext cx="20848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1647B"/>
                </a:solidFill>
                <a:latin typeface="Calibri"/>
              </a:rPr>
              <a:t>Klein starten, messen, Menschen mitnehmen.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1647B"/>
                </a:solidFill>
                <a:latin typeface="Calibri"/>
              </a:rPr>
              <a:t>13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2743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0" b="1">
                <a:solidFill>
                  <a:srgbClr val="0D9488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2697480"/>
            <a:ext cx="8595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Der Faktor Mensch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62072" y="3657600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AEBED0"/>
                </a:solidFill>
                <a:latin typeface="Calibri"/>
              </a:rPr>
              <a:t>Technik ist der einfache Teil. Menschen für Veränderung zu gewinnen, entscheidet über Erfolg oder Scheitern.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1647B"/>
                </a:solidFill>
                <a:latin typeface="Calibr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Calibri"/>
              </a:rPr>
              <a:t>DIE EIGENTLICHE HÜRDE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B1B2B"/>
                </a:solidFill>
                <a:latin typeface="Calibri"/>
              </a:rPr>
              <a:t>Technik ist einfach — Menschen sind schwer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91640"/>
            <a:ext cx="822960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011680"/>
            <a:ext cx="5074920" cy="329184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011680"/>
            <a:ext cx="5074920" cy="8229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D9488"/>
                </a:solidFill>
                <a:latin typeface="Calibri"/>
              </a:rPr>
              <a:t>Technik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880360"/>
            <a:ext cx="457200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▸  </a:t>
            </a:r>
            <a:r>
              <a:rPr sz="1600" b="1">
                <a:solidFill>
                  <a:srgbClr val="0B1B2B"/>
                </a:solidFill>
                <a:latin typeface="Calibri"/>
              </a:rPr>
              <a:t>Verfügbar</a:t>
            </a:r>
            <a:r>
              <a:rPr sz="1600" b="0">
                <a:solidFill>
                  <a:srgbClr val="51647B"/>
                </a:solidFill>
                <a:latin typeface="Calibri"/>
              </a:rPr>
              <a:t> — Werkzeuge gibt es im Überfluss.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▸  </a:t>
            </a:r>
            <a:r>
              <a:rPr sz="1600" b="1">
                <a:solidFill>
                  <a:srgbClr val="0B1B2B"/>
                </a:solidFill>
                <a:latin typeface="Calibri"/>
              </a:rPr>
              <a:t>Schnell</a:t>
            </a:r>
            <a:r>
              <a:rPr sz="1600" b="0">
                <a:solidFill>
                  <a:srgbClr val="51647B"/>
                </a:solidFill>
                <a:latin typeface="Calibri"/>
              </a:rPr>
              <a:t> — Einrichtung dauert oft Minuten.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▸  </a:t>
            </a:r>
            <a:r>
              <a:rPr sz="1600" b="1">
                <a:solidFill>
                  <a:srgbClr val="0B1B2B"/>
                </a:solidFill>
                <a:latin typeface="Calibri"/>
              </a:rPr>
              <a:t>Planbar</a:t>
            </a:r>
            <a:r>
              <a:rPr sz="1600" b="0">
                <a:solidFill>
                  <a:srgbClr val="51647B"/>
                </a:solidFill>
                <a:latin typeface="Calibri"/>
              </a:rPr>
              <a:t> — Funktioniert oder funktioniert nicht.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011680"/>
            <a:ext cx="5074920" cy="329184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2011680"/>
            <a:ext cx="5074920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24028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C2410C"/>
                </a:solidFill>
                <a:latin typeface="Calibri"/>
              </a:rPr>
              <a:t>Menschen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880360"/>
            <a:ext cx="457200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▸  </a:t>
            </a:r>
            <a:r>
              <a:rPr sz="1600" b="1">
                <a:solidFill>
                  <a:srgbClr val="0B1B2B"/>
                </a:solidFill>
                <a:latin typeface="Calibri"/>
              </a:rPr>
              <a:t>Gewohnheiten</a:t>
            </a:r>
            <a:r>
              <a:rPr sz="1600" b="0">
                <a:solidFill>
                  <a:srgbClr val="51647B"/>
                </a:solidFill>
                <a:latin typeface="Calibri"/>
              </a:rPr>
              <a:t> — „Das haben wir immer so gemacht.“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▸  </a:t>
            </a:r>
            <a:r>
              <a:rPr sz="1600" b="1">
                <a:solidFill>
                  <a:srgbClr val="0B1B2B"/>
                </a:solidFill>
                <a:latin typeface="Calibri"/>
              </a:rPr>
              <a:t>Angst</a:t>
            </a:r>
            <a:r>
              <a:rPr sz="1600" b="0">
                <a:solidFill>
                  <a:srgbClr val="51647B"/>
                </a:solidFill>
                <a:latin typeface="Calibri"/>
              </a:rPr>
              <a:t> — „Ersetzt mich die KI?“ — muss ernst genommen werden.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▸  </a:t>
            </a:r>
            <a:r>
              <a:rPr sz="1600" b="1">
                <a:solidFill>
                  <a:srgbClr val="0B1B2B"/>
                </a:solidFill>
                <a:latin typeface="Calibri"/>
              </a:rPr>
              <a:t>Vertrauen</a:t>
            </a:r>
            <a:r>
              <a:rPr sz="1600" b="0">
                <a:solidFill>
                  <a:srgbClr val="51647B"/>
                </a:solidFill>
                <a:latin typeface="Calibri"/>
              </a:rPr>
              <a:t> — entsteht nur durch Erfolge, die man selbst erlebt.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1647B"/>
                </a:solidFill>
                <a:latin typeface="Calibr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Calibri"/>
              </a:rPr>
              <a:t>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B1B2B"/>
                </a:solidFill>
                <a:latin typeface="Calibri"/>
              </a:rPr>
              <a:t>So gewinnen Sie Ihr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91640"/>
            <a:ext cx="822960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1042416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800" b="1">
                <a:solidFill>
                  <a:srgbClr val="0D9488"/>
                </a:solidFill>
                <a:latin typeface="Calibri"/>
              </a:rPr>
              <a:t>▸  </a:t>
            </a:r>
            <a:r>
              <a:rPr sz="1800" b="1">
                <a:solidFill>
                  <a:srgbClr val="0B1B2B"/>
                </a:solidFill>
                <a:latin typeface="Calibri"/>
              </a:rPr>
              <a:t>Nutzen zuerst zeigen</a:t>
            </a:r>
            <a:r>
              <a:rPr sz="1800" b="0">
                <a:solidFill>
                  <a:srgbClr val="51647B"/>
                </a:solidFill>
                <a:latin typeface="Calibri"/>
              </a:rPr>
              <a:t> — Menschen ändern sich, wenn das Werkzeug IHR Leben leichter macht — nicht das der Geschäftsführung.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800" b="1">
                <a:solidFill>
                  <a:srgbClr val="0D9488"/>
                </a:solidFill>
                <a:latin typeface="Calibri"/>
              </a:rPr>
              <a:t>▸  </a:t>
            </a:r>
            <a:r>
              <a:rPr sz="1800" b="1">
                <a:solidFill>
                  <a:srgbClr val="0B1B2B"/>
                </a:solidFill>
                <a:latin typeface="Calibri"/>
              </a:rPr>
              <a:t>Klein anfangen</a:t>
            </a:r>
            <a:r>
              <a:rPr sz="1800" b="0">
                <a:solidFill>
                  <a:srgbClr val="51647B"/>
                </a:solidFill>
                <a:latin typeface="Calibri"/>
              </a:rPr>
              <a:t> — Ein Prozess, ein sichtbarer schneller Erfolg, dann ausweiten.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800" b="1">
                <a:solidFill>
                  <a:srgbClr val="0D9488"/>
                </a:solidFill>
                <a:latin typeface="Calibri"/>
              </a:rPr>
              <a:t>▸  </a:t>
            </a:r>
            <a:r>
              <a:rPr sz="1800" b="1">
                <a:solidFill>
                  <a:srgbClr val="0B1B2B"/>
                </a:solidFill>
                <a:latin typeface="Calibri"/>
              </a:rPr>
              <a:t>Mitmachen lassen</a:t>
            </a:r>
            <a:r>
              <a:rPr sz="1800" b="0">
                <a:solidFill>
                  <a:srgbClr val="51647B"/>
                </a:solidFill>
                <a:latin typeface="Calibri"/>
              </a:rPr>
              <a:t> — Wer mitgestaltet, blockiert nicht. Die Erfahrensten zu Vorbildern machen.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800" b="1">
                <a:solidFill>
                  <a:srgbClr val="0D9488"/>
                </a:solidFill>
                <a:latin typeface="Calibri"/>
              </a:rPr>
              <a:t>▸  </a:t>
            </a:r>
            <a:r>
              <a:rPr sz="1800" b="1">
                <a:solidFill>
                  <a:srgbClr val="0B1B2B"/>
                </a:solidFill>
                <a:latin typeface="Calibri"/>
              </a:rPr>
              <a:t>Ehrlich kommunizieren</a:t>
            </a:r>
            <a:r>
              <a:rPr sz="1800" b="0">
                <a:solidFill>
                  <a:srgbClr val="51647B"/>
                </a:solidFill>
                <a:latin typeface="Calibri"/>
              </a:rPr>
              <a:t> — KI nimmt Aufgaben ab, nicht Menschen weg — Zeit für das Wesentliche.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800" b="1">
                <a:solidFill>
                  <a:srgbClr val="0D9488"/>
                </a:solidFill>
                <a:latin typeface="Calibri"/>
              </a:rPr>
              <a:t>▸  </a:t>
            </a:r>
            <a:r>
              <a:rPr sz="1800" b="1">
                <a:solidFill>
                  <a:srgbClr val="0B1B2B"/>
                </a:solidFill>
                <a:latin typeface="Calibri"/>
              </a:rPr>
              <a:t>Begleiten statt anordnen</a:t>
            </a:r>
            <a:r>
              <a:rPr sz="1800" b="0">
                <a:solidFill>
                  <a:srgbClr val="51647B"/>
                </a:solidFill>
                <a:latin typeface="Calibri"/>
              </a:rPr>
              <a:t> — Einführung braucht Geduld und jemanden, der dranbleibt.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1647B"/>
                </a:solidFill>
                <a:latin typeface="Calibri"/>
              </a:rPr>
              <a:t>16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2743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0" b="1">
                <a:solidFill>
                  <a:srgbClr val="0D9488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2697480"/>
            <a:ext cx="8595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KI-gestütztes 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62072" y="3657600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AEBED0"/>
                </a:solidFill>
                <a:latin typeface="Calibri"/>
              </a:rPr>
              <a:t>Wie aus einer Idee in Minuten funktionierende Software wird — live.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1647B"/>
                </a:solidFill>
                <a:latin typeface="Calibri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Calibri"/>
              </a:rPr>
              <a:t>WAS HEUTE GEHT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B1B2B"/>
                </a:solidFill>
                <a:latin typeface="Calibri"/>
              </a:rPr>
              <a:t>Software bauen, ohne Entwickler zu sein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91640"/>
            <a:ext cx="822960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1042416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0D9488"/>
                </a:solidFill>
                <a:latin typeface="Calibri"/>
              </a:rPr>
              <a:t>▸  </a:t>
            </a:r>
            <a:r>
              <a:rPr sz="1900" b="1">
                <a:solidFill>
                  <a:srgbClr val="0B1B2B"/>
                </a:solidFill>
                <a:latin typeface="Calibri"/>
              </a:rPr>
              <a:t>Sie beschreiben — die KI baut</a:t>
            </a:r>
            <a:r>
              <a:rPr sz="1900" b="0">
                <a:solidFill>
                  <a:srgbClr val="51647B"/>
                </a:solidFill>
                <a:latin typeface="Calibri"/>
              </a:rPr>
              <a:t> — In normaler Sprache sagen, was Sie wollen. Die KI schreibt den Code.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0D9488"/>
                </a:solidFill>
                <a:latin typeface="Calibri"/>
              </a:rPr>
              <a:t>▸  </a:t>
            </a:r>
            <a:r>
              <a:rPr sz="1900" b="1">
                <a:solidFill>
                  <a:srgbClr val="0B1B2B"/>
                </a:solidFill>
                <a:latin typeface="Calibri"/>
              </a:rPr>
              <a:t>Von Stunden, nicht Monaten</a:t>
            </a:r>
            <a:r>
              <a:rPr sz="1900" b="0">
                <a:solidFill>
                  <a:srgbClr val="51647B"/>
                </a:solidFill>
                <a:latin typeface="Calibri"/>
              </a:rPr>
              <a:t> — Prototypen entstehen am selben Tag, nicht im nächsten Quartal.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0D9488"/>
                </a:solidFill>
                <a:latin typeface="Calibri"/>
              </a:rPr>
              <a:t>▸  </a:t>
            </a:r>
            <a:r>
              <a:rPr sz="1900" b="1">
                <a:solidFill>
                  <a:srgbClr val="0B1B2B"/>
                </a:solidFill>
                <a:latin typeface="Calibri"/>
              </a:rPr>
              <a:t>Bruchteil der Kosten</a:t>
            </a:r>
            <a:r>
              <a:rPr sz="1900" b="0">
                <a:solidFill>
                  <a:srgbClr val="51647B"/>
                </a:solidFill>
                <a:latin typeface="Calibri"/>
              </a:rPr>
              <a:t> — Was früher ein Team und ein Budget brauchte, schafft heute eine Person.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0D9488"/>
                </a:solidFill>
                <a:latin typeface="Calibri"/>
              </a:rPr>
              <a:t>▸  </a:t>
            </a:r>
            <a:r>
              <a:rPr sz="1900" b="1">
                <a:solidFill>
                  <a:srgbClr val="0B1B2B"/>
                </a:solidFill>
                <a:latin typeface="Calibri"/>
              </a:rPr>
              <a:t>Genau so sind meine Produkte entstanden</a:t>
            </a:r>
            <a:r>
              <a:rPr sz="1900" b="0">
                <a:solidFill>
                  <a:srgbClr val="51647B"/>
                </a:solidFill>
                <a:latin typeface="Calibri"/>
              </a:rPr>
              <a:t> — Die Beispiele vom Anfang — alle mit diesen Methoden gebaut.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1647B"/>
                </a:solidFill>
                <a:latin typeface="Calibri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Calibri"/>
              </a:rPr>
              <a:t>DAS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B1B2B"/>
                </a:solidFill>
                <a:latin typeface="Calibri"/>
              </a:rPr>
              <a:t>Womit ich gleich arbeite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91640"/>
            <a:ext cx="822960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194560"/>
            <a:ext cx="3456432" cy="27432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194560"/>
            <a:ext cx="82296" cy="2743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423160"/>
            <a:ext cx="2907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B1B2B"/>
                </a:solidFill>
                <a:latin typeface="Calibri"/>
              </a:rPr>
              <a:t>Der KI-Assistent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71800"/>
            <a:ext cx="290779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1647B"/>
                </a:solidFill>
                <a:latin typeface="Calibri"/>
              </a:rPr>
              <a:t>Ein Coding-Agent, der in normaler Sprache Anweisungen versteht und direkt umsetzt.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9704" y="2194560"/>
            <a:ext cx="3456432" cy="27432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9704" y="2194560"/>
            <a:ext cx="82296" cy="27432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9744" y="2423160"/>
            <a:ext cx="2907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B1B2B"/>
                </a:solidFill>
                <a:latin typeface="Calibri"/>
              </a:rPr>
              <a:t>Der Arbeitsplatz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9744" y="2971800"/>
            <a:ext cx="290779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1647B"/>
                </a:solidFill>
                <a:latin typeface="Calibri"/>
              </a:rPr>
              <a:t>Editor + Vorschau: links die Anweisung, rechts das Ergebnis in Echtzeit.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0728" y="2194560"/>
            <a:ext cx="3456432" cy="27432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0728" y="2194560"/>
            <a:ext cx="82296" cy="2743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2423160"/>
            <a:ext cx="2907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B1B2B"/>
                </a:solidFill>
                <a:latin typeface="Calibri"/>
              </a:rPr>
              <a:t>Der Kreislauf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971800"/>
            <a:ext cx="290779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1647B"/>
                </a:solidFill>
                <a:latin typeface="Calibri"/>
              </a:rPr>
              <a:t>Sagen → sehen → verbessern. In kurzen Schleifen zum fertigen Ergebnis.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LIVE-DEMO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Wir bauen jetzt gemeinsam etwas.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42062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Schauen Sie auf den Ablauf, nicht auf den Code: beschreiben → erzeugen → verbessern.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2148840"/>
            <a:ext cx="1097280" cy="73152"/>
          </a:xfrm>
          <a:prstGeom prst="rect">
            <a:avLst/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1647B"/>
                </a:solidFill>
                <a:latin typeface="Calibri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Calibri"/>
              </a:rPr>
              <a:t>EINORDNUNG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B1B2B"/>
                </a:solidFill>
                <a:latin typeface="Calibri"/>
              </a:rPr>
              <a:t>Was Sie gerade gesehen haben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91640"/>
            <a:ext cx="822960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1042416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0D9488"/>
                </a:solidFill>
                <a:latin typeface="Calibri"/>
              </a:rPr>
              <a:t>▸  </a:t>
            </a:r>
            <a:r>
              <a:rPr sz="1900" b="1">
                <a:solidFill>
                  <a:srgbClr val="0B1B2B"/>
                </a:solidFill>
                <a:latin typeface="Calibri"/>
              </a:rPr>
              <a:t>Keine Zeile selbst getippt</a:t>
            </a:r>
            <a:r>
              <a:rPr sz="1900" b="0">
                <a:solidFill>
                  <a:srgbClr val="51647B"/>
                </a:solidFill>
                <a:latin typeface="Calibri"/>
              </a:rPr>
              <a:t> — Idee in Sprache → fertiges Ergebnis.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0D9488"/>
                </a:solidFill>
                <a:latin typeface="Calibri"/>
              </a:rPr>
              <a:t>▸  </a:t>
            </a:r>
            <a:r>
              <a:rPr sz="1900" b="1">
                <a:solidFill>
                  <a:srgbClr val="0B1B2B"/>
                </a:solidFill>
                <a:latin typeface="Calibri"/>
              </a:rPr>
              <a:t>Minuten statt Wochen</a:t>
            </a:r>
            <a:r>
              <a:rPr sz="1900" b="0">
                <a:solidFill>
                  <a:srgbClr val="51647B"/>
                </a:solidFill>
                <a:latin typeface="Calibri"/>
              </a:rPr>
              <a:t> — Diese Geschwindigkeit verändert, was sich für einen kleinen Betrieb überhaupt lohnt.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0D9488"/>
                </a:solidFill>
                <a:latin typeface="Calibri"/>
              </a:rPr>
              <a:t>▸  </a:t>
            </a:r>
            <a:r>
              <a:rPr sz="1900" b="1">
                <a:solidFill>
                  <a:srgbClr val="0B1B2B"/>
                </a:solidFill>
                <a:latin typeface="Calibri"/>
              </a:rPr>
              <a:t>Aber: jemand muss steuern</a:t>
            </a:r>
            <a:r>
              <a:rPr sz="1900" b="0">
                <a:solidFill>
                  <a:srgbClr val="51647B"/>
                </a:solidFill>
                <a:latin typeface="Calibri"/>
              </a:rPr>
              <a:t> — Wissen, WAS man baut und WARUM, bleibt entscheidend — genau das ist die eigentliche Arbeit.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0D9488"/>
                </a:solidFill>
                <a:latin typeface="Calibri"/>
              </a:rPr>
              <a:t>▸  </a:t>
            </a:r>
            <a:r>
              <a:rPr sz="1900" b="1">
                <a:solidFill>
                  <a:srgbClr val="0B1B2B"/>
                </a:solidFill>
                <a:latin typeface="Calibri"/>
              </a:rPr>
              <a:t>Werkzeug ≠ Lösung</a:t>
            </a:r>
            <a:r>
              <a:rPr sz="1900" b="0">
                <a:solidFill>
                  <a:srgbClr val="51647B"/>
                </a:solidFill>
                <a:latin typeface="Calibri"/>
              </a:rPr>
              <a:t> — Die KI baut, was Sie sagen. Was sinnvoll ist, entscheidet das Verständnis für Ihren Betrieb.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1647B"/>
                </a:solidFill>
                <a:latin typeface="Calibri"/>
              </a:rPr>
              <a:t>21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2743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0" b="1">
                <a:solidFill>
                  <a:srgbClr val="0D9488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2697480"/>
            <a:ext cx="8595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Ihr nächster Schritt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62072" y="3657600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AEBED0"/>
                </a:solidFill>
                <a:latin typeface="Calibri"/>
              </a:rPr>
              <a:t>Von der Inspiration zur Umsetzung — ohne dass Sie selbst zum Entwickler werden müssen.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1647B"/>
                </a:solidFill>
                <a:latin typeface="Calibri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Calibri"/>
              </a:rPr>
              <a:t>ZUSAMMENARBEIT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B1B2B"/>
                </a:solidFill>
                <a:latin typeface="Calibri"/>
              </a:rPr>
              <a:t>Wie ich Sie unterstütze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91640"/>
            <a:ext cx="822960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011680"/>
            <a:ext cx="5120640" cy="13258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011680"/>
            <a:ext cx="82296" cy="13258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4028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B1B2B"/>
                </a:solidFill>
                <a:latin typeface="Calibri"/>
              </a:rPr>
              <a:t>Potenzial-Analyse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8892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1647B"/>
                </a:solidFill>
                <a:latin typeface="Calibri"/>
              </a:rPr>
              <a:t>Gemeinsam Ihre Prozesse durchgehen und die größten Hebel finden.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120640" cy="13258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011680"/>
            <a:ext cx="82296" cy="13258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24028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B1B2B"/>
                </a:solidFill>
                <a:latin typeface="Calibri"/>
              </a:rPr>
              <a:t>Umsetzung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78892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1647B"/>
                </a:solidFill>
                <a:latin typeface="Calibri"/>
              </a:rPr>
              <a:t>Ich baue die Lösung — schnell, mit modernen KI-Methoden.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566160"/>
            <a:ext cx="5120640" cy="13258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3566160"/>
            <a:ext cx="82296" cy="13258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79476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B1B2B"/>
                </a:solidFill>
                <a:latin typeface="Calibri"/>
              </a:rPr>
              <a:t>Team-Einführung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34340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1647B"/>
                </a:solidFill>
                <a:latin typeface="Calibri"/>
              </a:rPr>
              <a:t>Ihre Mitarbeiter mitnehmen, damit die Lösung wirklich genutzt wird.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566160"/>
            <a:ext cx="5120640" cy="13258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566160"/>
            <a:ext cx="82296" cy="13258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79476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B1B2B"/>
                </a:solidFill>
                <a:latin typeface="Calibri"/>
              </a:rPr>
              <a:t>Begleitung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34340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1647B"/>
                </a:solidFill>
                <a:latin typeface="Calibri"/>
              </a:rPr>
              <a:t>Dranbleiben, messen, nachschärfen — bis es im Alltag läuft.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D9488"/>
                </a:solidFill>
                <a:latin typeface="Calibri"/>
              </a:rPr>
              <a:t>LASSEN SIE UNS REDEN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92024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Wo klemmt es bei Ihnen?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32004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AEBED0"/>
                </a:solidFill>
                <a:latin typeface="Calibri"/>
              </a:rPr>
              <a:t>15 Minuten, ein Prozess, eine ehrliche Einschätzung — kostenlos und unverbindlich.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" y="4297680"/>
            <a:ext cx="4937760" cy="1463040"/>
          </a:xfrm>
          <a:prstGeom prst="round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452628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[Ihr Name]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AEBED0"/>
                </a:solidFill>
                <a:latin typeface="Calibri"/>
              </a:rPr>
              <a:t>[E-Mail-Adresse]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AEBED0"/>
                </a:solidFill>
                <a:latin typeface="Calibri"/>
              </a:rPr>
              <a:t>[Telefon / Website]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4297680"/>
            <a:ext cx="5303520" cy="146304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461772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Termin sichern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Scannen Sie den QR-Code / schreiben Sie mir heute.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