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durch die Agenda führen (max. 1 Minute). Versprechen: Am Ende wissen Sie, WO KI in Ihrem Betrieb hilft und SEHEN, wie schnell Software heute entsteht. Ziel ist nicht, dass Sie selbst Entwickler werden — sondern dass Sie die Chancen erkennen.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Persönlich werden. Eine kurze Geschichte, warum Sie das machen. Betonen: Sie sind Praktiker. Glaubwürdigkeit entsteht durch die Produkte auf der nächsten 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ist Ihr Vertrauens-Anker. Kurz pro Produkt 1 Satz. Botschaft: „All das wurde mit modernen KI-Werkzeugen gebaut — von einer kleinen Mannschaft, schnell.“ Damit ist die Brücke zum Rest des Workshops geschlagen.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Klarstellen: Digitalisierung ≠ neue Software kaufen. Es ist eine Frage, WIE gearbeitet wird. Kleine Unternehmen sind agil — das ist ihr Trumpf gegenüber großen Wettbewerbern.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Zahlen sind branchenübliche Richtwerte (u. a. McKinsey/„The economic potential of generative AI“, Studien zu Entwickler-Produktivität mit KI-Assistenten). VOR DEM VORTRAG kurz aktualisieren und als „grobe Größenordnung“ präsentieren — nicht als exakte Garantie. Die eigentliche Botschaft steht unten: richtige Stelle schlägt Technik-Hype.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Dringlichkeit erzeugen, aber ohne Angstmache. Framing: Frühe, kleine Schritte schlagen großes Abwarten. Überleitung zu Abschnitt 2: „Bevor wir Werkzeuge einsetzen, müssen wir wissen WO.“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Kernbotschaft des ganzen Workshops. Beispiel erzählen: Ein Betrieb wollte „eine App“, brauchte aber eigentlich nur eine saubere Vorlage + Automatisierung. Das ist Ihr Mehrwert als Berater.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sind Ihre Diagnose-Fragen. Publikum aktivieren: „Denken Sie an EINEN Prozess in Ihrem Betrieb, der Sie nervt.“ Diese Folie ist praktisch und einprägsam — evtl. als Handout mitgeben.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Einfache, wiederholbare Methode. Betonen: Schritt 3 (Werkzeug) ist der KLEINSTE Teil. Die Arbeit steckt in 1, 2 und 4. Überleitung zu Abschnitt 3: Schritt 4 — die Menschen — ist der schwerste.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wichtigste Folie für Ihr Verkaufsargument. Tools kann jeder googeln — den Wandel beim TEAM zu schaffen, ist die eigentliche Leistung. Genau dafür braucht man jemanden wie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Praktischer Werkzeugkasten für Akzeptanz. Pointe: „Die beste Software ist wertlos, wenn sie keiner benutzt.“ Überleitung: „Jetzt der spannende Teil — wie Software heute überhaupt entsteht.“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Erwartung setzen für die Demo. WICHTIG: Ehrlich bleiben — KI ersetzt keinen erfahrenen Kopf bei komplexen / kritischen Systemen. Aber für 80 % der Alltagsfälle ist sie ein Gamechanger. Das verkauft Ihre Rolle: Sie sind der erfahrene Kopf.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 halten — nicht in Technik abdriften. Das Publikum muss den Ablauf verstehen, nicht die Werkzeuge im Detail. Dann auf die nächste Folie: LIVE.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 SCREEN-SHARE / EDITOR WECHSELN. Demo-Tipps: 1) Etwas wählen, das die Zielgruppe versteht (z. B. einfache Kundenanfrage-Seite oder Angebots-Generator). 2) Laut denken. 3) Bewusst auch eine kleine Korrektur machen — zeigt, dass man im Dialog steuert. 4) BACKUP bereithalten (Screenshots/Aufnahme), falls Live nicht klappt oder WLAN schwächelt. Zeitrahmen: 5–8 Minuten.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Den „Wow“-Moment in Wert ummünzen. Roter Faden schließen: Technik ist schnell und billig geworden — der Engpass ist VERSTEHEN (Prozesse) und MENSCHEN. Beides liefern 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Ihr Angebot, klar strukturiert. Botschaft an die Unternehmer: „Sie müssen das nicht selbst lernen. Sie brauchen jemanden, der versteht UND umsetzt.“ Das ist genau die Buchung, auf die der Workshop hinarbeitet.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Klarer, niedrigschwelliger Call to Action. Tipp: Hier einen echten QR-Code zu Ihrem Kalender (z. B. Calendly) einfügen und die Platzhalter mit echten Kontaktdaten ersetzen. Letzter Satz im Vortrag: Einladung zum kostenlosen Erstgespräch — nicht verkaufen, sondern helfen anbieten.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332720" y="0"/>
            <a:ext cx="1856231" cy="3200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Calibri"/>
              </a:rPr>
              <a:t>WORKSHOP · KI FÜR KLEINE UNTERNEHMEN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106070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F8FAFC"/>
                </a:solidFill>
                <a:latin typeface="Calibri"/>
              </a:rPr>
              <a:t>KI im Unternehmen: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F8FAFC"/>
                </a:solidFill>
                <a:latin typeface="Calibri"/>
              </a:rPr>
              <a:t>von der Idee zur Umsetzung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411480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9FB3C8"/>
                </a:solidFill>
                <a:latin typeface="Calibri"/>
              </a:rPr>
              <a:t>Wie KI und KI-gestütztes Coding Ihrem Betrieb Zeit, Geld und Nerven sparen.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" y="5212080"/>
            <a:ext cx="457200" cy="5486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539496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8FAFC"/>
                </a:solidFill>
                <a:latin typeface="Calibri"/>
              </a:rPr>
              <a:t>[Ihr Name]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9FB3C8"/>
                </a:solidFill>
                <a:latin typeface="Calibri"/>
              </a:rPr>
              <a:t>[Ihr Unternehmen] · KI- &amp; Digitalisierungsberatung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ÜBERBLICK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Unser Weg durch den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1 · Wer ich bin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Hintergrund und was ich bereits gebaut habe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2 · Digitale Transformation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Was KI heute leistet — in Zahlen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3 · Prozessoptimierung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Erst verstehen, dann automatisieren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4 · Der Faktor Mensch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Warum Technik der einfache Teil ist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5 · KI-gestütztes Coding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Live-Demo: Software in Minuten statt Monaten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6 · Was als Nächstes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Wie Sie das in Ihrem Betrieb nutzen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VORSTELLUNG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Wer vor Ihnen steht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2DD4BF"/>
                </a:solidFill>
                <a:latin typeface="Calibri"/>
              </a:rPr>
              <a:t>▸  </a:t>
            </a:r>
            <a:r>
              <a:rPr sz="2000" b="1">
                <a:solidFill>
                  <a:srgbClr val="F8FAFC"/>
                </a:solidFill>
                <a:latin typeface="Calibri"/>
              </a:rPr>
              <a:t>[Ihr Name]</a:t>
            </a:r>
            <a:r>
              <a:rPr sz="2000" b="0">
                <a:solidFill>
                  <a:srgbClr val="9FB3C8"/>
                </a:solidFill>
                <a:latin typeface="Calibri"/>
              </a:rPr>
              <a:t> — Ich entwickle und berate an der Schnittstelle von KI, Software und Geschäftsprozessen.</a:t>
            </a:r>
          </a:p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2DD4BF"/>
                </a:solidFill>
                <a:latin typeface="Calibri"/>
              </a:rPr>
              <a:t>▸  </a:t>
            </a:r>
            <a:r>
              <a:rPr sz="2000" b="1">
                <a:solidFill>
                  <a:srgbClr val="F8FAFC"/>
                </a:solidFill>
                <a:latin typeface="Calibri"/>
              </a:rPr>
              <a:t>Macher, nicht nur Berater</a:t>
            </a:r>
            <a:r>
              <a:rPr sz="2000" b="0">
                <a:solidFill>
                  <a:srgbClr val="9FB3C8"/>
                </a:solidFill>
                <a:latin typeface="Calibri"/>
              </a:rPr>
              <a:t> — Ich baue selbst Produkte — ich rede nicht nur über Technologie, ich setze sie ein.</a:t>
            </a:r>
          </a:p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2DD4BF"/>
                </a:solidFill>
                <a:latin typeface="Calibri"/>
              </a:rPr>
              <a:t>▸  </a:t>
            </a:r>
            <a:r>
              <a:rPr sz="2000" b="1">
                <a:solidFill>
                  <a:srgbClr val="F8FAFC"/>
                </a:solidFill>
                <a:latin typeface="Calibri"/>
              </a:rPr>
              <a:t>Fokus</a:t>
            </a:r>
            <a:r>
              <a:rPr sz="2000" b="0">
                <a:solidFill>
                  <a:srgbClr val="9FB3C8"/>
                </a:solidFill>
                <a:latin typeface="Calibri"/>
              </a:rPr>
              <a:t> — Digitale Transformation: echte Probleme im Betrieb finden und mit dem richtigen Werkzeug lösen.</a:t>
            </a:r>
          </a:p>
          <a:p>
            <a:pPr>
              <a:lnSpc>
                <a:spcPct val="110000"/>
              </a:lnSpc>
              <a:spcAft>
                <a:spcPts val="1800"/>
              </a:spcAft>
            </a:pPr>
            <a:r>
              <a:rPr sz="2000" b="1">
                <a:solidFill>
                  <a:srgbClr val="2DD4BF"/>
                </a:solidFill>
                <a:latin typeface="Calibri"/>
              </a:rPr>
              <a:t>▸  </a:t>
            </a:r>
            <a:r>
              <a:rPr sz="2000" b="1">
                <a:solidFill>
                  <a:srgbClr val="F8FAFC"/>
                </a:solidFill>
                <a:latin typeface="Calibri"/>
              </a:rPr>
              <a:t>Heute</a:t>
            </a:r>
            <a:r>
              <a:rPr sz="2000" b="0">
                <a:solidFill>
                  <a:srgbClr val="9FB3C8"/>
                </a:solidFill>
                <a:latin typeface="Calibri"/>
              </a:rPr>
              <a:t> — Ich zeige Ihnen, was möglich ist — und wo der Hebel für Ihr Unternehmen liegt.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REFERENZEN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Was ich bereits gebaut habe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65960"/>
            <a:ext cx="3456432" cy="141732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965960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945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Video-Meeting-Plattform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Eine Art „Google Meet“ inkl. Meeting-Bot, der Gespräche begleitet.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965960"/>
            <a:ext cx="3456432" cy="141732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690872" y="1965960"/>
            <a:ext cx="8229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912" y="21945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Startup-Ökosystem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10912" y="2743200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Plattform, die Gründer, Wissen und Ressourcen vernetzt.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13064" y="1965960"/>
            <a:ext cx="3456432" cy="141732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13064" y="1965960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33104" y="21945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„Learn how to talk“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33104" y="2743200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Trainingsapp für Kommunikation und sicheres Auftreten.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3675888"/>
            <a:ext cx="3456432" cy="141732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3675888"/>
            <a:ext cx="8229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39044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Job-Interview-Training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453128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KI-gestützte Vorbereitung auf Bewerbungsgespräche.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3675888"/>
            <a:ext cx="3456432" cy="141732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90872" y="3675888"/>
            <a:ext cx="82296" cy="141732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912" y="39044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Eigenes Game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10912" y="4453128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Komplettes Spiel — selbst entwickelt.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13064" y="3675888"/>
            <a:ext cx="3456432" cy="141732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13064" y="3675888"/>
            <a:ext cx="82296" cy="14173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33104" y="3904488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… und weitere Produkte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33104" y="4453128"/>
            <a:ext cx="290779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Vom Prototyp bis zum laufenden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0" b="1">
                <a:solidFill>
                  <a:srgbClr val="2DD4B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788920"/>
            <a:ext cx="8595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8FAFC"/>
                </a:solidFill>
                <a:latin typeface="Calibri"/>
              </a:rPr>
              <a:t>Digitale Transformation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2072" y="37947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FB3C8"/>
                </a:solidFill>
                <a:latin typeface="Calibri"/>
              </a:rPr>
              <a:t>Was KI heute wirklich leistet — und warum jetzt der richtige Zeitpunkt 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GRUNDLAGEN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Digitale Transformation ist kein IT-Projekt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Es geht um Wertschöpfung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nicht um Technik um der Technik willen. Werkzeuge sind Mittel zum Zweck.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Repetitive Arbeit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verschwindet — Angebote, Berichte, Datenpflege, Standard-Kommunikation.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Wissen wird zugänglich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Antworten in Sekunden statt Suchen in Ordnern.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Kleine Betriebe im Vorteil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Sie sind schneller und können neue Werkzeuge sofort einsetzen — ohne Konzern-Bürokratie.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DIE ZAHLEN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Warum sich das Hinschauen lohnt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57400"/>
            <a:ext cx="10469880" cy="219456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2DD4BF"/>
                </a:solidFill>
                <a:latin typeface="Calibri"/>
              </a:rPr>
              <a:t>bis 40 %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weniger Zeit für Routineaufgaben durch KI-Assistenz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237744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F59E0B"/>
                </a:solidFill>
                <a:latin typeface="Calibri"/>
              </a:rPr>
              <a:t>10×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342900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schnellere Erstellung von Texten, Angeboten &amp;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237744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>
                <a:solidFill>
                  <a:srgbClr val="2DD4BF"/>
                </a:solidFill>
                <a:latin typeface="Calibri"/>
              </a:rPr>
              <a:t>24/7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3429000"/>
            <a:ext cx="3383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8FAFC"/>
                </a:solidFill>
                <a:latin typeface="Calibri"/>
              </a:rPr>
              <a:t>verfügbar — KI macht keine Pause und wird nicht krank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17720"/>
            <a:ext cx="10469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3C8"/>
                </a:solidFill>
                <a:latin typeface="Calibri"/>
              </a:rPr>
              <a:t>Wichtig: Der Gewinn entsteht nicht durch „KI haben“, sondern durch KI an der richtigen Stelle. Ein gut gewählter Anwendungsfall amortisiert sich oft in wenigen Wochen.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TIMING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Warum gerade jetzt der richtige Moment 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Die Werkzeuge sind reif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Was vor zwei Jahren Forschung war, ist heute Alltag und bezahlbar.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Die Einstiegshürde ist gefallen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Sie brauchen kein eigenes IT-Team mehr für vieles.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Der Wettbewerb beginnt gerade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Wer jetzt lernt, hat einen echten Vorsprung — in 2 Jahren ist es Standard.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Risiko des Abwartens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Nicht „zu früh investieren“, sondern „zu spät anfangen“ ist die eigentliche Gefahr.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9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0" b="1">
                <a:solidFill>
                  <a:srgbClr val="2DD4B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788920"/>
            <a:ext cx="8595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8FAFC"/>
                </a:solidFill>
                <a:latin typeface="Calibri"/>
              </a:rPr>
              <a:t>Prozesse verstehen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2072" y="37947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FB3C8"/>
                </a:solidFill>
                <a:latin typeface="Calibri"/>
              </a:rPr>
              <a:t>Der wichtigste Schritt kommt vor der Technik: zu wissen, wo es im Betrieb wirklich klemmt.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REIHENFOLGE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Erst verstehen — dann automatisieren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Häufigster Fehler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Mit dem Werkzeug starten, bevor das Problem klar ist. Dann digitalisiert man Chaos.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Richtige Reihenfolge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Prozess verstehen → Engpass finden → richtige Lösung wählen → erst dann umsetzen.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„Automatisieren Sie keinen schlechten Prozess“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sonst machen Sie den Fehler nur schneller.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Genau hier komme ich ins Spiel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Den Betrieb verstehen, bevor irgendjemand eine Zeile Code schreibt.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Wo liegen Ihre Potenziale?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1965960"/>
            <a:ext cx="5120640" cy="1078992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965960"/>
            <a:ext cx="82296" cy="10789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945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Was wiederholt sich täglich?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43200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Jede manuelle Routine ist ein Kandidat.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965960"/>
            <a:ext cx="5120640" cy="1078992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965960"/>
            <a:ext cx="82296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1945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Wo entstehen Wartezeiten?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43200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Übergaben, Freigaben, Suchen nach Infos.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227832"/>
            <a:ext cx="5120640" cy="1078992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227832"/>
            <a:ext cx="82296" cy="10789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45643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Wo passieren Fehler?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0507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Doppelte Eingaben, Copy-Paste, Medienbrüche.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27832"/>
            <a:ext cx="5120640" cy="1078992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227832"/>
            <a:ext cx="82296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456432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Was raubt Ihnen Energie?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005072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Aufgaben, die niemand gern macht.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4489704"/>
            <a:ext cx="5120640" cy="1078992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68680" y="4489704"/>
            <a:ext cx="82296" cy="1078992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88720" y="471830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Wo sagen Kunden „zu langsam“?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266944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Reaktionszeit ist oft der Engpass.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4489704"/>
            <a:ext cx="5120640" cy="1078992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4489704"/>
            <a:ext cx="82296" cy="10789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71830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Was hängt an einer Person?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37960" y="5266944"/>
            <a:ext cx="457200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Wissen im Kopf ist ein Risiko.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VORGEHEN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Vom Problem zur Lösung — in 4 Schritten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03120"/>
            <a:ext cx="2542032" cy="274320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25420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2DD4B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4612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Beobachten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03320"/>
            <a:ext cx="20848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3C8"/>
                </a:solidFill>
                <a:latin typeface="Calibri"/>
              </a:rPr>
              <a:t>Prozess Schritt für Schritt aufnehmen — so wie er wirklich läuft.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5304" y="2103120"/>
            <a:ext cx="2542032" cy="274320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75304" y="2331720"/>
            <a:ext cx="25420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59E0B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324612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Bewerten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3904" y="3703320"/>
            <a:ext cx="20848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3C8"/>
                </a:solidFill>
                <a:latin typeface="Calibri"/>
              </a:rPr>
              <a:t>Wo ist der größte Hebel? Aufwand vs. Wirkung.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2103120"/>
            <a:ext cx="2542032" cy="274320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2331720"/>
            <a:ext cx="25420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2DD4B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324612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Lösen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0528" y="3703320"/>
            <a:ext cx="20848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3C8"/>
                </a:solidFill>
                <a:latin typeface="Calibri"/>
              </a:rPr>
              <a:t>Richtiges Werkzeug wählen — oft KI, manchmal nur eine Vorlage.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88552" y="2103120"/>
            <a:ext cx="2542032" cy="274320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88552" y="2331720"/>
            <a:ext cx="254203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800" b="1">
                <a:solidFill>
                  <a:srgbClr val="F59E0B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3246120"/>
            <a:ext cx="21762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8FAFC"/>
                </a:solidFill>
                <a:latin typeface="Calibri"/>
              </a:rPr>
              <a:t>Einführen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17152" y="3703320"/>
            <a:ext cx="20848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3C8"/>
                </a:solidFill>
                <a:latin typeface="Calibri"/>
              </a:rPr>
              <a:t>Klein starten, messen, Menschen mitnehmen.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13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0" b="1">
                <a:solidFill>
                  <a:srgbClr val="2DD4B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788920"/>
            <a:ext cx="8595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8FAFC"/>
                </a:solidFill>
                <a:latin typeface="Calibri"/>
              </a:rPr>
              <a:t>Der Faktor Mensch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2072" y="37947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FB3C8"/>
                </a:solidFill>
                <a:latin typeface="Calibri"/>
              </a:rPr>
              <a:t>Technik ist der einfache Teil. Menschen für Veränderung zu gewinnen, entscheidet über Erfolg oder Scheitern.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DIE EIGENTLICHE HÜRDE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Technik ist einfach — Menschen sind schwer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5074920" cy="329184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11680"/>
            <a:ext cx="5074920" cy="82296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24028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2DD4BF"/>
                </a:solidFill>
                <a:latin typeface="Calibri"/>
              </a:rPr>
              <a:t>Technik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880360"/>
            <a:ext cx="45720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1">
                <a:solidFill>
                  <a:srgbClr val="2DD4BF"/>
                </a:solidFill>
                <a:latin typeface="Calibri"/>
              </a:rPr>
              <a:t>▸  </a:t>
            </a:r>
            <a:r>
              <a:rPr sz="1600" b="1">
                <a:solidFill>
                  <a:srgbClr val="F8FAFC"/>
                </a:solidFill>
                <a:latin typeface="Calibri"/>
              </a:rPr>
              <a:t>Verfügbar</a:t>
            </a:r>
            <a:r>
              <a:rPr sz="1600" b="0">
                <a:solidFill>
                  <a:srgbClr val="9FB3C8"/>
                </a:solidFill>
                <a:latin typeface="Calibri"/>
              </a:rPr>
              <a:t> — Werkzeuge gibt es im Überfluss.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1">
                <a:solidFill>
                  <a:srgbClr val="2DD4BF"/>
                </a:solidFill>
                <a:latin typeface="Calibri"/>
              </a:rPr>
              <a:t>▸  </a:t>
            </a:r>
            <a:r>
              <a:rPr sz="1600" b="1">
                <a:solidFill>
                  <a:srgbClr val="F8FAFC"/>
                </a:solidFill>
                <a:latin typeface="Calibri"/>
              </a:rPr>
              <a:t>Schnell</a:t>
            </a:r>
            <a:r>
              <a:rPr sz="1600" b="0">
                <a:solidFill>
                  <a:srgbClr val="9FB3C8"/>
                </a:solidFill>
                <a:latin typeface="Calibri"/>
              </a:rPr>
              <a:t> — Einrichtung dauert oft Minuten.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1">
                <a:solidFill>
                  <a:srgbClr val="2DD4BF"/>
                </a:solidFill>
                <a:latin typeface="Calibri"/>
              </a:rPr>
              <a:t>▸  </a:t>
            </a:r>
            <a:r>
              <a:rPr sz="1600" b="1">
                <a:solidFill>
                  <a:srgbClr val="F8FAFC"/>
                </a:solidFill>
                <a:latin typeface="Calibri"/>
              </a:rPr>
              <a:t>Planbar</a:t>
            </a:r>
            <a:r>
              <a:rPr sz="1600" b="0">
                <a:solidFill>
                  <a:srgbClr val="9FB3C8"/>
                </a:solidFill>
                <a:latin typeface="Calibri"/>
              </a:rPr>
              <a:t> — Funktioniert oder funktioniert nicht.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011680"/>
            <a:ext cx="5074920" cy="329184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2011680"/>
            <a:ext cx="5074920" cy="822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F59E0B"/>
                </a:solidFill>
                <a:latin typeface="Calibri"/>
              </a:rPr>
              <a:t>Menschen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880360"/>
            <a:ext cx="457200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1">
                <a:solidFill>
                  <a:srgbClr val="2DD4BF"/>
                </a:solidFill>
                <a:latin typeface="Calibri"/>
              </a:rPr>
              <a:t>▸  </a:t>
            </a:r>
            <a:r>
              <a:rPr sz="1600" b="1">
                <a:solidFill>
                  <a:srgbClr val="F8FAFC"/>
                </a:solidFill>
                <a:latin typeface="Calibri"/>
              </a:rPr>
              <a:t>Gewohnheiten</a:t>
            </a:r>
            <a:r>
              <a:rPr sz="1600" b="0">
                <a:solidFill>
                  <a:srgbClr val="9FB3C8"/>
                </a:solidFill>
                <a:latin typeface="Calibri"/>
              </a:rPr>
              <a:t> — „Das haben wir immer so gemacht.“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1">
                <a:solidFill>
                  <a:srgbClr val="2DD4BF"/>
                </a:solidFill>
                <a:latin typeface="Calibri"/>
              </a:rPr>
              <a:t>▸  </a:t>
            </a:r>
            <a:r>
              <a:rPr sz="1600" b="1">
                <a:solidFill>
                  <a:srgbClr val="F8FAFC"/>
                </a:solidFill>
                <a:latin typeface="Calibri"/>
              </a:rPr>
              <a:t>Angst</a:t>
            </a:r>
            <a:r>
              <a:rPr sz="1600" b="0">
                <a:solidFill>
                  <a:srgbClr val="9FB3C8"/>
                </a:solidFill>
                <a:latin typeface="Calibri"/>
              </a:rPr>
              <a:t> — „Ersetzt mich die KI?“ — muss ernst genommen werden.</a:t>
            </a:r>
          </a:p>
          <a:p>
            <a:pPr>
              <a:lnSpc>
                <a:spcPct val="110000"/>
              </a:lnSpc>
              <a:spcAft>
                <a:spcPts val="1200"/>
              </a:spcAft>
            </a:pPr>
            <a:r>
              <a:rPr sz="1600" b="1">
                <a:solidFill>
                  <a:srgbClr val="2DD4BF"/>
                </a:solidFill>
                <a:latin typeface="Calibri"/>
              </a:rPr>
              <a:t>▸  </a:t>
            </a:r>
            <a:r>
              <a:rPr sz="1600" b="1">
                <a:solidFill>
                  <a:srgbClr val="F8FAFC"/>
                </a:solidFill>
                <a:latin typeface="Calibri"/>
              </a:rPr>
              <a:t>Vertrauen</a:t>
            </a:r>
            <a:r>
              <a:rPr sz="1600" b="0">
                <a:solidFill>
                  <a:srgbClr val="9FB3C8"/>
                </a:solidFill>
                <a:latin typeface="Calibri"/>
              </a:rPr>
              <a:t> — entsteht nur durch Erfolge, die man selbst erlebt.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So gewinnen Sie Ihr 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800" b="1">
                <a:solidFill>
                  <a:srgbClr val="2DD4BF"/>
                </a:solidFill>
                <a:latin typeface="Calibri"/>
              </a:rPr>
              <a:t>▸  </a:t>
            </a:r>
            <a:r>
              <a:rPr sz="1800" b="1">
                <a:solidFill>
                  <a:srgbClr val="F8FAFC"/>
                </a:solidFill>
                <a:latin typeface="Calibri"/>
              </a:rPr>
              <a:t>Nutzen zuerst zeigen</a:t>
            </a:r>
            <a:r>
              <a:rPr sz="1800" b="0">
                <a:solidFill>
                  <a:srgbClr val="9FB3C8"/>
                </a:solidFill>
                <a:latin typeface="Calibri"/>
              </a:rPr>
              <a:t> — Menschen ändern sich, wenn das Werkzeug IHR Leben leichter macht — nicht das der Geschäftsführung.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800" b="1">
                <a:solidFill>
                  <a:srgbClr val="2DD4BF"/>
                </a:solidFill>
                <a:latin typeface="Calibri"/>
              </a:rPr>
              <a:t>▸  </a:t>
            </a:r>
            <a:r>
              <a:rPr sz="1800" b="1">
                <a:solidFill>
                  <a:srgbClr val="F8FAFC"/>
                </a:solidFill>
                <a:latin typeface="Calibri"/>
              </a:rPr>
              <a:t>Klein anfangen</a:t>
            </a:r>
            <a:r>
              <a:rPr sz="1800" b="0">
                <a:solidFill>
                  <a:srgbClr val="9FB3C8"/>
                </a:solidFill>
                <a:latin typeface="Calibri"/>
              </a:rPr>
              <a:t> — Ein Prozess, ein sichtbarer schneller Erfolg, dann ausweiten.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800" b="1">
                <a:solidFill>
                  <a:srgbClr val="2DD4BF"/>
                </a:solidFill>
                <a:latin typeface="Calibri"/>
              </a:rPr>
              <a:t>▸  </a:t>
            </a:r>
            <a:r>
              <a:rPr sz="1800" b="1">
                <a:solidFill>
                  <a:srgbClr val="F8FAFC"/>
                </a:solidFill>
                <a:latin typeface="Calibri"/>
              </a:rPr>
              <a:t>Mitmachen lassen</a:t>
            </a:r>
            <a:r>
              <a:rPr sz="1800" b="0">
                <a:solidFill>
                  <a:srgbClr val="9FB3C8"/>
                </a:solidFill>
                <a:latin typeface="Calibri"/>
              </a:rPr>
              <a:t> — Wer mitgestaltet, blockiert nicht. Die Erfahrensten zu Vorbildern machen.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800" b="1">
                <a:solidFill>
                  <a:srgbClr val="2DD4BF"/>
                </a:solidFill>
                <a:latin typeface="Calibri"/>
              </a:rPr>
              <a:t>▸  </a:t>
            </a:r>
            <a:r>
              <a:rPr sz="1800" b="1">
                <a:solidFill>
                  <a:srgbClr val="F8FAFC"/>
                </a:solidFill>
                <a:latin typeface="Calibri"/>
              </a:rPr>
              <a:t>Ehrlich kommunizieren</a:t>
            </a:r>
            <a:r>
              <a:rPr sz="1800" b="0">
                <a:solidFill>
                  <a:srgbClr val="9FB3C8"/>
                </a:solidFill>
                <a:latin typeface="Calibri"/>
              </a:rPr>
              <a:t> — KI nimmt Aufgaben ab, nicht Menschen weg — Zeit für das Wesentliche.</a:t>
            </a:r>
          </a:p>
          <a:p>
            <a:pPr>
              <a:lnSpc>
                <a:spcPct val="110000"/>
              </a:lnSpc>
              <a:spcAft>
                <a:spcPts val="1300"/>
              </a:spcAft>
            </a:pPr>
            <a:r>
              <a:rPr sz="1800" b="1">
                <a:solidFill>
                  <a:srgbClr val="2DD4BF"/>
                </a:solidFill>
                <a:latin typeface="Calibri"/>
              </a:rPr>
              <a:t>▸  </a:t>
            </a:r>
            <a:r>
              <a:rPr sz="1800" b="1">
                <a:solidFill>
                  <a:srgbClr val="F8FAFC"/>
                </a:solidFill>
                <a:latin typeface="Calibri"/>
              </a:rPr>
              <a:t>Begleiten statt anordnen</a:t>
            </a:r>
            <a:r>
              <a:rPr sz="1800" b="0">
                <a:solidFill>
                  <a:srgbClr val="9FB3C8"/>
                </a:solidFill>
                <a:latin typeface="Calibri"/>
              </a:rPr>
              <a:t> — Einführung braucht Geduld und jemanden, der dranbleibt.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0" b="1">
                <a:solidFill>
                  <a:srgbClr val="2DD4B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788920"/>
            <a:ext cx="8595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8FAFC"/>
                </a:solidFill>
                <a:latin typeface="Calibri"/>
              </a:rPr>
              <a:t>KI-gestütztes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2072" y="37947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FB3C8"/>
                </a:solidFill>
                <a:latin typeface="Calibri"/>
              </a:rPr>
              <a:t>Wie aus einer Idee in Minuten funktionierende Software wird — live.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WAS HEUTE GEHT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Software bauen, ohne Entwickler zu sein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Sie beschreiben — die KI baut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In normaler Sprache sagen, was Sie wollen. Die KI schreibt den Code.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Von Stunden, nicht Monaten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Prototypen entstehen am selben Tag, nicht im nächsten Quartal.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Bruchteil der Kosten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Was früher ein Team und ein Budget brauchte, schafft heute eine Person.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Genau so sind meine Produkte entstanden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Die Beispiele vom Anfang — alle mit diesen Methoden gebaut.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DAS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Womit ich gleich arbeite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94560"/>
            <a:ext cx="3456432" cy="274320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194560"/>
            <a:ext cx="82296" cy="2743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4231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Der KI-Assistent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71800"/>
            <a:ext cx="2907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Ein Coding-Agent, der in normaler Sprache Anweisungen versteht und direkt umsetzt.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9704" y="2194560"/>
            <a:ext cx="3456432" cy="274320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89704" y="2194560"/>
            <a:ext cx="82296" cy="2743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09744" y="24231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Der Arbeitsplatz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9744" y="2971800"/>
            <a:ext cx="2907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Editor + Vorschau: links die Anweisung, rechts das Ergebnis in Echtzeit.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10728" y="2194560"/>
            <a:ext cx="3456432" cy="274320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0728" y="2194560"/>
            <a:ext cx="82296" cy="27432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30768" y="2423160"/>
            <a:ext cx="290779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Der Kreislauf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2971800"/>
            <a:ext cx="290779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Sagen → sehen → verbessern. In kurzen Schleifen zum fertigen Ergebnis.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DD4B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0B1B2B"/>
                </a:solidFill>
                <a:latin typeface="Calibri"/>
              </a:rPr>
              <a:t>LIVE-DEMO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83464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400" b="1">
                <a:solidFill>
                  <a:srgbClr val="0B1B2B"/>
                </a:solidFill>
                <a:latin typeface="Calibri"/>
              </a:rPr>
              <a:t>Wir bauen jetzt gemeinsam etwas.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42062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B1B2B"/>
                </a:solidFill>
                <a:latin typeface="Calibri"/>
              </a:rPr>
              <a:t>Schauen Sie auf den Ablauf, nicht auf den Code: beschreiben → erzeugen → verbessern.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32688" y="2148840"/>
            <a:ext cx="1097280" cy="73152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EINORDNUNG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Was Sie gerade gesehen haben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80"/>
            <a:ext cx="10424160" cy="420624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Keine Zeile selbst getippt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Idee in Sprache → fertiges Ergebnis.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Minuten statt Wochen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Diese Geschwindigkeit verändert, was sich für einen kleinen Betrieb überhaupt lohnt.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Aber: jemand muss steuern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Wissen, WAS man baut und WARUM, bleibt entscheidend — genau das ist die eigentliche Arbeit.</a:t>
            </a:r>
          </a:p>
          <a:p>
            <a:pPr>
              <a:lnSpc>
                <a:spcPct val="110000"/>
              </a:lnSpc>
              <a:spcAft>
                <a:spcPts val="1600"/>
              </a:spcAft>
            </a:pPr>
            <a:r>
              <a:rPr sz="1900" b="1">
                <a:solidFill>
                  <a:srgbClr val="2DD4BF"/>
                </a:solidFill>
                <a:latin typeface="Calibri"/>
              </a:rPr>
              <a:t>▸  </a:t>
            </a:r>
            <a:r>
              <a:rPr sz="1900" b="1">
                <a:solidFill>
                  <a:srgbClr val="F8FAFC"/>
                </a:solidFill>
                <a:latin typeface="Calibri"/>
              </a:rPr>
              <a:t>Werkzeug ≠ Lösung</a:t>
            </a:r>
            <a:r>
              <a:rPr sz="1900" b="0">
                <a:solidFill>
                  <a:srgbClr val="9FB3C8"/>
                </a:solidFill>
                <a:latin typeface="Calibri"/>
              </a:rPr>
              <a:t> — Die KI baut, was Sie sagen. Was sinnvoll ist, entscheidet das Verständnis für Ihren Betrieb.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21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1371600"/>
          </a:xfrm>
          <a:prstGeom prst="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828800"/>
            <a:ext cx="2743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0" b="1">
                <a:solidFill>
                  <a:srgbClr val="2DD4B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2788920"/>
            <a:ext cx="8595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8FAFC"/>
                </a:solidFill>
                <a:latin typeface="Calibri"/>
              </a:rPr>
              <a:t>Ihr nächster Schritt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62072" y="37947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9FB3C8"/>
                </a:solidFill>
                <a:latin typeface="Calibri"/>
              </a:rPr>
              <a:t>Von der Inspiration zur Umsetzung — ohne dass Sie selbst zum Entwickler werden müssen.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B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560" y="640080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9FB3C8"/>
                </a:solidFill>
                <a:latin typeface="Calibri"/>
              </a:rPr>
              <a:t>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DD4BF"/>
                </a:solidFill>
                <a:latin typeface="Calibri"/>
              </a:rPr>
              <a:t>ZUSAMMENARBEIT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F8FAFC"/>
                </a:solidFill>
                <a:latin typeface="Calibri"/>
              </a:rPr>
              <a:t>Wie ich Sie unterstütze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1691640"/>
            <a:ext cx="822960" cy="54864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5120640" cy="132588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011680"/>
            <a:ext cx="82296" cy="132588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4028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Potenzial-Analyse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78892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Gemeinsam Ihre Prozesse durchgehen und die größten Hebel finden.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011680"/>
            <a:ext cx="5120640" cy="132588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011680"/>
            <a:ext cx="82296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224028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Umsetzung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78892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Ich baue die Lösung — schnell, mit modernen KI-Methoden.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3566160"/>
            <a:ext cx="5120640" cy="132588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3566160"/>
            <a:ext cx="82296" cy="132588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37947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Team-Einführung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3434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Ihre Mitarbeiter mitnehmen, damit die Lösung wirklich genutzt wird.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566160"/>
            <a:ext cx="5120640" cy="1325880"/>
          </a:xfrm>
          <a:prstGeom prst="roundRect">
            <a:avLst/>
          </a:prstGeom>
          <a:solidFill>
            <a:srgbClr val="12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566160"/>
            <a:ext cx="82296" cy="13258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7960" y="379476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F8FAFC"/>
                </a:solidFill>
                <a:latin typeface="Calibri"/>
              </a:rPr>
              <a:t>Begleitung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34340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9FB3C8"/>
                </a:solidFill>
                <a:latin typeface="Calibri"/>
              </a:rPr>
              <a:t>Dranbleiben, messen, nachschärfen — bis es im Alltag läuft.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37160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DD4BF"/>
                </a:solidFill>
                <a:latin typeface="Calibri"/>
              </a:rPr>
              <a:t>LASSEN SIE UNS REDEN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Calibri"/>
              </a:rPr>
              <a:t>Wo klemmt es bei Ihnen?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" y="3200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9FB3C8"/>
                </a:solidFill>
                <a:latin typeface="Calibri"/>
              </a:rPr>
              <a:t>15 Minuten, ein Prozess, eine ehrliche Einschätzung — kostenlos und unverbindlich.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4297680"/>
            <a:ext cx="4937760" cy="1463040"/>
          </a:xfrm>
          <a:prstGeom prst="roundRect">
            <a:avLst/>
          </a:prstGeom>
          <a:solidFill>
            <a:srgbClr val="0B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452628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8FAFC"/>
                </a:solidFill>
                <a:latin typeface="Calibri"/>
              </a:rPr>
              <a:t>[Ihr Name]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3C8"/>
                </a:solidFill>
                <a:latin typeface="Calibri"/>
              </a:rPr>
              <a:t>[E-Mail-Adresse]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3C8"/>
                </a:solidFill>
                <a:latin typeface="Calibri"/>
              </a:rPr>
              <a:t>[Telefon / Website]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4297680"/>
            <a:ext cx="5303520" cy="1463040"/>
          </a:xfrm>
          <a:prstGeom prst="round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617720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B1B2B"/>
                </a:solidFill>
                <a:latin typeface="Calibri"/>
              </a:rPr>
              <a:t>Termin sichern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B1B2B"/>
                </a:solidFill>
                <a:latin typeface="Calibri"/>
              </a:rPr>
              <a:t>Scannen Sie den QR-Code / schreiben Sie mir heute.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